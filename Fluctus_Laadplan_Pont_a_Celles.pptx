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361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charts/_rels/chart36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61.xlsx"/></Relationships>
</file>

<file path=ppt/charts/chart36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Loadfactor</c:v>
                </c:pt>
              </c:strCache>
            </c:strRef>
          </c:tx>
          <c:spPr>
            <a:solidFill>
              <a:srgbClr val="1F3864"/>
            </a:solidFill>
            <a:effectLst/>
          </c:spPr>
          <c:invertIfNegative val="0"/>
          <c:dLbls>
            <c:numFmt formatCode="0&quot;%&quot;" sourceLinked="0"/>
            <c:txPr>
              <a:bodyPr/>
              <a:lstStyle/>
              <a:p>
                <a:pPr>
                  <a:defRPr b="1" i="0" strike="noStrike" sz="1300" u="none">
                    <a:solidFill>
                      <a:srgbClr val="1A1A1A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1F3864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05B050"/>
              </a:solidFill>
              <a:effectLst/>
            </c:spPr>
          </c:dPt>
          <c:cat>
            <c:multiLvlStrRef>
              <c:f>Sheet1!$A$2:$A$3</c:f>
              <c:multiLvlStrCache>
                <c:ptCount val="2"/>
                <c:lvl>
                  <c:pt idx="0">
                    <c:v>Vandaag</c:v>
                  </c:pt>
                  <c:pt idx="1">
                    <c:v>Met slim laden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31</c:v>
                </c:pt>
                <c:pt idx="1">
                  <c:v>57</c:v>
                </c:pt>
              </c:numCache>
            </c:numRef>
          </c:val>
        </c:ser>
        <c:dLbls>
          <c:numFmt formatCode="0&quot;%&quot;" sourceLinked="0"/>
          <c:txPr>
            <a:bodyPr/>
            <a:lstStyle/>
            <a:p>
              <a:pPr>
                <a:defRPr b="1" i="0" strike="noStrike" sz="1300" u="none">
                  <a:solidFill>
                    <a:srgbClr val="1A1A1A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1A1A1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70"/>
          <c:min val="0"/>
        </c:scaling>
        <c:delete val="0"/>
        <c:axPos val="l"/>
        <c:majorGridlines>
          <c:spPr>
            <a:ln w="6350" cap="flat">
              <a:solidFill>
                <a:srgbClr val="EDF1F6"/>
              </a:solidFill>
              <a:prstDash val="solid"/>
              <a:round/>
            </a:ln>
          </c:spPr>
        </c:majorGridlines>
        <c:numFmt formatCode="0&quot;%&quot;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A6473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hyperlink" Target="https://johanmmk.github.io/gemeenten/Kaart_bedrijfsparkings_Pont_a_Celles.html" TargetMode="External"/><Relationship Id="rId1" Type="http://schemas.openxmlformats.org/officeDocument/2006/relationships/image" Target="../media/image-7-1.png"/><Relationship Id="rId3" Type="http://schemas.openxmlformats.org/officeDocument/2006/relationships/image" Target="../media/image-7-2.png"/><Relationship Id="rId4" Type="http://schemas.openxmlformats.org/officeDocument/2006/relationships/image" Target="../media/image-7-3.png"/><Relationship Id="rId5" Type="http://schemas.openxmlformats.org/officeDocument/2006/relationships/image" Target="../media/image-7-4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4" Type="http://schemas.openxmlformats.org/officeDocument/2006/relationships/chart" Target="/ppt/charts/chart361.xml"/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image" Target="../media/image-11-5.png"/><Relationship Id="rId6" Type="http://schemas.openxmlformats.org/officeDocument/2006/relationships/image" Target="../media/image-11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2011680"/>
            <a:ext cx="5943600" cy="5943600"/>
          </a:xfrm>
          <a:prstGeom prst="ellipse">
            <a:avLst/>
          </a:prstGeom>
          <a:solidFill>
            <a:srgbClr val="27406F"/>
          </a:solidFill>
          <a:ln/>
        </p:spPr>
      </p:sp>
      <p:sp>
        <p:nvSpPr>
          <p:cNvPr id="3" name="Shape 1"/>
          <p:cNvSpPr/>
          <p:nvPr/>
        </p:nvSpPr>
        <p:spPr>
          <a:xfrm>
            <a:off x="10332720" y="3291840"/>
            <a:ext cx="3840480" cy="3840480"/>
          </a:xfrm>
          <a:prstGeom prst="ellipse">
            <a:avLst/>
          </a:prstGeom>
          <a:solidFill>
            <a:srgbClr val="24395F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50292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spc="4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2331720" y="603504"/>
            <a:ext cx="146304" cy="146304"/>
          </a:xfrm>
          <a:prstGeom prst="ellipse">
            <a:avLst/>
          </a:prstGeom>
          <a:solidFill>
            <a:srgbClr val="05B050"/>
          </a:solidFill>
          <a:ln/>
        </p:spPr>
      </p:sp>
      <p:sp>
        <p:nvSpPr>
          <p:cNvPr id="6" name="Text 4"/>
          <p:cNvSpPr/>
          <p:nvPr/>
        </p:nvSpPr>
        <p:spPr>
          <a:xfrm>
            <a:off x="658368" y="21488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ALS EEN SERVICE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40080" y="2468880"/>
            <a:ext cx="84124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Meer EV in</a:t>
            </a:r>
            <a:endParaRPr lang="en-US" sz="460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Pont-à-Celles</a:t>
            </a:r>
            <a:endParaRPr lang="en-US" sz="4600" dirty="0"/>
          </a:p>
        </p:txBody>
      </p:sp>
      <p:sp>
        <p:nvSpPr>
          <p:cNvPr id="8" name="Text 6"/>
          <p:cNvSpPr/>
          <p:nvPr/>
        </p:nvSpPr>
        <p:spPr>
          <a:xfrm>
            <a:off x="4572000" y="3246120"/>
            <a:ext cx="71323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1. Kilometer kost gedeeld door 4</a:t>
            </a:r>
            <a:endParaRPr lang="en-US" sz="180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2. Congestie voorkomen</a:t>
            </a:r>
            <a:endParaRPr lang="en-US" sz="180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3. Lokale energie voor lokale EV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658368" y="5440680"/>
            <a:ext cx="457200" cy="457200"/>
          </a:xfrm>
          <a:prstGeom prst="ellipse">
            <a:avLst/>
          </a:prstGeom>
          <a:solidFill>
            <a:srgbClr val="05B050"/>
          </a:solidFill>
          <a:ln/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5559552"/>
            <a:ext cx="219456" cy="219456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1280160" y="5504688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Johan Konings · johan@fluctus.net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MARKT VERSNELT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Elektrisch laden schaalt razendsnel op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3520440" cy="2788920"/>
          </a:xfrm>
          <a:prstGeom prst="roundRect">
            <a:avLst>
              <a:gd name="adj" fmla="val 3279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2240280"/>
            <a:ext cx="749808" cy="749808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9350" y="2435230"/>
            <a:ext cx="359908" cy="35990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14400" y="3200400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100.000+</a:t>
            </a:r>
            <a:endParaRPr lang="en-US" sz="4000" dirty="0"/>
          </a:p>
        </p:txBody>
      </p:sp>
      <p:sp>
        <p:nvSpPr>
          <p:cNvPr id="8" name="Text 5"/>
          <p:cNvSpPr/>
          <p:nvPr/>
        </p:nvSpPr>
        <p:spPr>
          <a:xfrm>
            <a:off x="914400" y="397764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publieke laadpunten in België vandaag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4517136" y="1965960"/>
            <a:ext cx="3520440" cy="2788920"/>
          </a:xfrm>
          <a:prstGeom prst="roundRect">
            <a:avLst>
              <a:gd name="adj" fmla="val 3279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791456" y="2240280"/>
            <a:ext cx="749808" cy="749808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86406" y="2435230"/>
            <a:ext cx="359908" cy="35990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791456" y="3200400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380.000+</a:t>
            </a:r>
            <a:endParaRPr lang="en-US" sz="4000" dirty="0"/>
          </a:p>
        </p:txBody>
      </p:sp>
      <p:sp>
        <p:nvSpPr>
          <p:cNvPr id="13" name="Text 9"/>
          <p:cNvSpPr/>
          <p:nvPr/>
        </p:nvSpPr>
        <p:spPr>
          <a:xfrm>
            <a:off x="4791456" y="397764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volledig elektrische personenauto’s</a:t>
            </a:r>
            <a:endParaRPr lang="en-US" sz="1400" dirty="0"/>
          </a:p>
        </p:txBody>
      </p:sp>
      <p:sp>
        <p:nvSpPr>
          <p:cNvPr id="14" name="Shape 10"/>
          <p:cNvSpPr/>
          <p:nvPr/>
        </p:nvSpPr>
        <p:spPr>
          <a:xfrm>
            <a:off x="8394192" y="1965960"/>
            <a:ext cx="3520440" cy="2788920"/>
          </a:xfrm>
          <a:prstGeom prst="roundRect">
            <a:avLst>
              <a:gd name="adj" fmla="val 3279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668512" y="2240280"/>
            <a:ext cx="749808" cy="749808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63462" y="2435230"/>
            <a:ext cx="359908" cy="35990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668512" y="3200400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≈ 220.000</a:t>
            </a:r>
            <a:endParaRPr lang="en-US" sz="4000" dirty="0"/>
          </a:p>
        </p:txBody>
      </p:sp>
      <p:sp>
        <p:nvSpPr>
          <p:cNvPr id="18" name="Text 13"/>
          <p:cNvSpPr/>
          <p:nvPr/>
        </p:nvSpPr>
        <p:spPr>
          <a:xfrm>
            <a:off x="8668512" y="397764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verwacht aantal laadpunten — een verdubbeling tegen 2030</a:t>
            </a:r>
            <a:endParaRPr lang="en-US" sz="1400" dirty="0"/>
          </a:p>
        </p:txBody>
      </p:sp>
      <p:sp>
        <p:nvSpPr>
          <p:cNvPr id="19" name="Text 14"/>
          <p:cNvSpPr/>
          <p:nvPr/>
        </p:nvSpPr>
        <p:spPr>
          <a:xfrm>
            <a:off x="640080" y="502920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vraag naar laadcapaciteit groeit sneller dan het net wordt verzwaard. De winst zit in slimmer gebruik van bestaande aansluitingen.</a:t>
            </a:r>
            <a:endParaRPr lang="en-US" sz="1400" dirty="0"/>
          </a:p>
        </p:txBody>
      </p:sp>
      <p:sp>
        <p:nvSpPr>
          <p:cNvPr id="20" name="Text 15"/>
          <p:cNvSpPr/>
          <p:nvPr/>
        </p:nvSpPr>
        <p:spPr>
          <a:xfrm>
            <a:off x="640080" y="589788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Bron: EV Belgium (ev.be) — persbericht 20/08/2025.</a:t>
            </a:r>
            <a:endParaRPr lang="en-US" sz="1000" dirty="0"/>
          </a:p>
        </p:txBody>
      </p:sp>
      <p:sp>
        <p:nvSpPr>
          <p:cNvPr id="21" name="Text 16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000" dirty="0"/>
          </a:p>
        </p:txBody>
      </p:sp>
      <p:sp>
        <p:nvSpPr>
          <p:cNvPr id="22" name="Text 17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HET PROBLEEM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gangbare laadstrategieën lopen vast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10908792" cy="1225296"/>
          </a:xfrm>
          <a:prstGeom prst="roundRect">
            <a:avLst>
              <a:gd name="adj" fmla="val 597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2258568"/>
            <a:ext cx="640080" cy="640080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0821" y="2424989"/>
            <a:ext cx="307238" cy="30723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828800" y="2148840"/>
            <a:ext cx="9418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Thuisladen is duur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1828800" y="2532888"/>
            <a:ext cx="9509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Voor werknemers verhoogt thuisladen de capaciteitskosten (capaciteitstarief) — net op de piekmomenten.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640080" y="3383280"/>
            <a:ext cx="10908792" cy="1225296"/>
          </a:xfrm>
          <a:prstGeom prst="roundRect">
            <a:avLst>
              <a:gd name="adj" fmla="val 597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914400" y="3675888"/>
            <a:ext cx="640080" cy="640080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0821" y="3842309"/>
            <a:ext cx="307238" cy="30723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828800" y="3566160"/>
            <a:ext cx="9418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Vlucht naar publieke superchargers</a:t>
            </a:r>
            <a:endParaRPr lang="en-US" sz="1700" dirty="0"/>
          </a:p>
        </p:txBody>
      </p:sp>
      <p:sp>
        <p:nvSpPr>
          <p:cNvPr id="13" name="Text 9"/>
          <p:cNvSpPr/>
          <p:nvPr/>
        </p:nvSpPr>
        <p:spPr>
          <a:xfrm>
            <a:off x="1828800" y="3950208"/>
            <a:ext cx="9509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Werknemers wijken uit naar publieke snelladers. Dat drijft de kost op én overbelast pleinen met beperkte capaciteit, met performantieverlies tot gevolg.</a:t>
            </a:r>
            <a:endParaRPr lang="en-US" sz="1300" dirty="0"/>
          </a:p>
        </p:txBody>
      </p:sp>
      <p:sp>
        <p:nvSpPr>
          <p:cNvPr id="14" name="Shape 10"/>
          <p:cNvSpPr/>
          <p:nvPr/>
        </p:nvSpPr>
        <p:spPr>
          <a:xfrm>
            <a:off x="640080" y="4800600"/>
            <a:ext cx="10908792" cy="1225296"/>
          </a:xfrm>
          <a:prstGeom prst="roundRect">
            <a:avLst>
              <a:gd name="adj" fmla="val 597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914400" y="5093208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0821" y="5259629"/>
            <a:ext cx="307238" cy="30723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828800" y="4983480"/>
            <a:ext cx="9418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Twee smaken, beide suboptimaal</a:t>
            </a:r>
            <a:endParaRPr lang="en-US" sz="1700" dirty="0"/>
          </a:p>
        </p:txBody>
      </p:sp>
      <p:sp>
        <p:nvSpPr>
          <p:cNvPr id="18" name="Text 13"/>
          <p:cNvSpPr/>
          <p:nvPr/>
        </p:nvSpPr>
        <p:spPr>
          <a:xfrm>
            <a:off x="1828800" y="5367528"/>
            <a:ext cx="9509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Strategieën mikken ofwel op laden buiten de werkuren, ofwel op supersnelladen.</a:t>
            </a:r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b="1" i="1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Geen van beide benut de aansluiting waar ze al sterk is.</a:t>
            </a:r>
            <a:endParaRPr lang="en-US" sz="1300" dirty="0"/>
          </a:p>
        </p:txBody>
      </p:sp>
      <p:sp>
        <p:nvSpPr>
          <p:cNvPr id="19" name="Text 14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000" dirty="0"/>
          </a:p>
        </p:txBody>
      </p:sp>
      <p:sp>
        <p:nvSpPr>
          <p:cNvPr id="20" name="Text 15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BETERE OPLOSSING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698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Laden waar de aansluiting onderbenut is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965960"/>
            <a:ext cx="6035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meeste bedrijven en overheden gebruiken hun aansluiting voor amper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30%</a:t>
            </a:r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terwijl ze ze voor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100%</a:t>
            </a:r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betalen.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40080" y="3063240"/>
            <a:ext cx="60350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 zo’n locatie kunnen we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twee keer zoveel energie</a:t>
            </a:r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in auto’s steken als het gebouw zelf verbruikt —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zonder één euro extra netkosten.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640080" y="4434840"/>
            <a:ext cx="566928" cy="566928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7481" y="4582241"/>
            <a:ext cx="272125" cy="272125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371600" y="4480560"/>
            <a:ext cx="5303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Geen netverzwaring. Geen extra aansluitvermogen. Wel meer geladen kilometers.</a:t>
            </a:r>
            <a:endParaRPr lang="en-US" sz="1300" dirty="0"/>
          </a:p>
        </p:txBody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01000" y="1371600"/>
            <a:ext cx="2560320" cy="1819656"/>
          </a:xfrm>
          <a:prstGeom prst="rect">
            <a:avLst/>
          </a:prstGeom>
        </p:spPr>
      </p:pic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01000" y="3310128"/>
            <a:ext cx="2560320" cy="2020824"/>
          </a:xfrm>
          <a:prstGeom prst="rect">
            <a:avLst/>
          </a:prstGeom>
        </p:spPr>
      </p:pic>
      <p:sp>
        <p:nvSpPr>
          <p:cNvPr id="11" name="Shape 6"/>
          <p:cNvSpPr/>
          <p:nvPr/>
        </p:nvSpPr>
        <p:spPr>
          <a:xfrm>
            <a:off x="640080" y="5486400"/>
            <a:ext cx="10908792" cy="868680"/>
          </a:xfrm>
          <a:prstGeom prst="roundRect">
            <a:avLst>
              <a:gd name="adj" fmla="val 10526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Shape 7"/>
          <p:cNvSpPr/>
          <p:nvPr/>
        </p:nvSpPr>
        <p:spPr>
          <a:xfrm>
            <a:off x="868680" y="5641848"/>
            <a:ext cx="548640" cy="548640"/>
          </a:xfrm>
          <a:prstGeom prst="ellipse">
            <a:avLst/>
          </a:prstGeom>
          <a:solidFill>
            <a:srgbClr val="2C4B82"/>
          </a:solidFill>
          <a:ln/>
        </p:spPr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1326" y="5784494"/>
            <a:ext cx="263347" cy="263347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1572768" y="5650992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Loadfactor</a:t>
            </a:r>
            <a:endParaRPr lang="en-US" sz="1700" dirty="0"/>
          </a:p>
        </p:txBody>
      </p:sp>
      <p:sp>
        <p:nvSpPr>
          <p:cNvPr id="15" name="Text 9"/>
          <p:cNvSpPr/>
          <p:nvPr/>
        </p:nvSpPr>
        <p:spPr>
          <a:xfrm>
            <a:off x="3154680" y="5577840"/>
            <a:ext cx="50292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4000"/>
              </a:lnSpc>
              <a:buNone/>
            </a:pPr>
            <a:r>
              <a:rPr lang="en-US" sz="1100" dirty="0">
                <a:solidFill>
                  <a:srgbClr val="DCE6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verhouding tussen het werkelijke verbruik per jaar en de energie die geleverd zou kunnen worden als men constant op het maximale vermogen zou leveren.</a:t>
            </a:r>
            <a:endParaRPr lang="en-US" sz="1100" dirty="0"/>
          </a:p>
        </p:txBody>
      </p:sp>
      <p:sp>
        <p:nvSpPr>
          <p:cNvPr id="16" name="Text 10"/>
          <p:cNvSpPr/>
          <p:nvPr/>
        </p:nvSpPr>
        <p:spPr>
          <a:xfrm>
            <a:off x="8366760" y="5577840"/>
            <a:ext cx="30632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4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Lage loadfactor = </a:t>
            </a:r>
            <a:pPr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veel ongebruikte, al betaalde capaciteit.</a:t>
            </a:r>
            <a:endParaRPr lang="en-US" sz="1150" dirty="0"/>
          </a:p>
        </p:txBody>
      </p:sp>
      <p:sp>
        <p:nvSpPr>
          <p:cNvPr id="17" name="Text 11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000" dirty="0"/>
          </a:p>
        </p:txBody>
      </p:sp>
      <p:sp>
        <p:nvSpPr>
          <p:cNvPr id="18" name="Text 12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MOTOR ONDER DE OPLOSSING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Stationaire batterijen verlagen de kost per kilometer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 een batterijbuffer haalt de parking energie binnen op momenten dat de energiemarkt zeer goedkoop is — opnieuw zonder extra netkosten.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2743200"/>
            <a:ext cx="3520440" cy="251460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14400" y="2999232"/>
            <a:ext cx="713232" cy="713232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9840" y="3184672"/>
            <a:ext cx="342351" cy="342351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96112" y="3840480"/>
            <a:ext cx="30083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1/4</a:t>
            </a:r>
            <a:endParaRPr lang="en-US" sz="4400" dirty="0"/>
          </a:p>
        </p:txBody>
      </p:sp>
      <p:sp>
        <p:nvSpPr>
          <p:cNvPr id="9" name="Text 6"/>
          <p:cNvSpPr/>
          <p:nvPr/>
        </p:nvSpPr>
        <p:spPr>
          <a:xfrm>
            <a:off x="914400" y="4645152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van de kost per km t.o.v. diesel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4517136" y="2743200"/>
            <a:ext cx="3520440" cy="251460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791456" y="2999232"/>
            <a:ext cx="713232" cy="713232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76896" y="3184672"/>
            <a:ext cx="342351" cy="342351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4773168" y="3840480"/>
            <a:ext cx="30083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1/3</a:t>
            </a:r>
            <a:endParaRPr lang="en-US" sz="4400" dirty="0"/>
          </a:p>
        </p:txBody>
      </p:sp>
      <p:sp>
        <p:nvSpPr>
          <p:cNvPr id="14" name="Text 10"/>
          <p:cNvSpPr/>
          <p:nvPr/>
        </p:nvSpPr>
        <p:spPr>
          <a:xfrm>
            <a:off x="4791456" y="4645152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t.o.v. professionele diesel</a:t>
            </a:r>
            <a:endParaRPr lang="en-US" sz="1300" dirty="0"/>
          </a:p>
        </p:txBody>
      </p:sp>
      <p:sp>
        <p:nvSpPr>
          <p:cNvPr id="15" name="Shape 11"/>
          <p:cNvSpPr/>
          <p:nvPr/>
        </p:nvSpPr>
        <p:spPr>
          <a:xfrm>
            <a:off x="8394192" y="2743200"/>
            <a:ext cx="3520440" cy="251460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8668512" y="2999232"/>
            <a:ext cx="713232" cy="71323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53952" y="3184672"/>
            <a:ext cx="342351" cy="342351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8650224" y="3840480"/>
            <a:ext cx="30083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≈ 10%</a:t>
            </a:r>
            <a:endParaRPr lang="en-US" sz="4400" dirty="0"/>
          </a:p>
        </p:txBody>
      </p:sp>
      <p:sp>
        <p:nvSpPr>
          <p:cNvPr id="19" name="Text 14"/>
          <p:cNvSpPr/>
          <p:nvPr/>
        </p:nvSpPr>
        <p:spPr>
          <a:xfrm>
            <a:off x="8668512" y="4645152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rendement op de batterij-investering</a:t>
            </a:r>
            <a:endParaRPr lang="en-US" sz="1300" dirty="0"/>
          </a:p>
        </p:txBody>
      </p:sp>
      <p:sp>
        <p:nvSpPr>
          <p:cNvPr id="20" name="Text 15"/>
          <p:cNvSpPr/>
          <p:nvPr/>
        </p:nvSpPr>
        <p:spPr>
          <a:xfrm>
            <a:off x="640080" y="548640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Goedkoper rijden én een rendabele batterij: de business case betaalt zichzelf terug.</a:t>
            </a:r>
            <a:endParaRPr lang="en-US" sz="1400" dirty="0"/>
          </a:p>
        </p:txBody>
      </p:sp>
      <p:sp>
        <p:nvSpPr>
          <p:cNvPr id="21" name="Text 16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000" dirty="0"/>
          </a:p>
        </p:txBody>
      </p:sp>
      <p:sp>
        <p:nvSpPr>
          <p:cNvPr id="22" name="Text 17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KERNCIJFERS · PONT-À-CELLES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Wat dit concreet betekent voor Pont-à-Celles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7.846 wagens zijn de </a:t>
            </a:r>
            <a:pPr indent="0" marL="0">
              <a:buNone/>
            </a:pPr>
            <a:r>
              <a:rPr lang="en-US" sz="15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personeelswagens van bedrijven in en rond Pont-à-Celles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(de gemeente zelf + 186 parkings in de band van ±2 km rond de grens)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 Elke wagen levert dat bedrijf </a:t>
            </a:r>
            <a:pPr indent="0" marL="0">
              <a:buNone/>
            </a:pPr>
            <a:r>
              <a:rPr lang="en-US" sz="15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€1.500 besparing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op en gaat gepaard met een </a:t>
            </a:r>
            <a:pPr indent="0" marL="0">
              <a:buNone/>
            </a:pPr>
            <a:r>
              <a:rPr lang="en-US" sz="15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investering van €3.000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(≈ 10% rendement).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2606040"/>
            <a:ext cx="2679192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77240" y="2770632"/>
            <a:ext cx="24048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7.846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804672" y="3739896"/>
            <a:ext cx="235000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elektrische personeelswagens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465576" y="2606040"/>
            <a:ext cx="2679192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602736" y="2770632"/>
            <a:ext cx="24048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206</a:t>
            </a:r>
            <a:endParaRPr lang="en-US" sz="3200" dirty="0"/>
          </a:p>
        </p:txBody>
      </p:sp>
      <p:sp>
        <p:nvSpPr>
          <p:cNvPr id="10" name="Text 8"/>
          <p:cNvSpPr/>
          <p:nvPr/>
        </p:nvSpPr>
        <p:spPr>
          <a:xfrm>
            <a:off x="3630168" y="3739896"/>
            <a:ext cx="235000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bedrijfsparkings in en rond de gemeente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291072" y="2606040"/>
            <a:ext cx="2679192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428232" y="2770632"/>
            <a:ext cx="24048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€ 11,77 mln</a:t>
            </a:r>
            <a:endParaRPr lang="en-US" sz="3200" dirty="0"/>
          </a:p>
        </p:txBody>
      </p:sp>
      <p:sp>
        <p:nvSpPr>
          <p:cNvPr id="13" name="Text 11"/>
          <p:cNvSpPr/>
          <p:nvPr/>
        </p:nvSpPr>
        <p:spPr>
          <a:xfrm>
            <a:off x="6455664" y="3739896"/>
            <a:ext cx="235000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jaarlijkse besparing voor bedrijven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9116568" y="2606040"/>
            <a:ext cx="2432304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9253728" y="2770632"/>
            <a:ext cx="215798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€ 23,54 mln</a:t>
            </a:r>
            <a:endParaRPr lang="en-US" sz="3200" dirty="0"/>
          </a:p>
        </p:txBody>
      </p:sp>
      <p:sp>
        <p:nvSpPr>
          <p:cNvPr id="16" name="Text 14"/>
          <p:cNvSpPr/>
          <p:nvPr/>
        </p:nvSpPr>
        <p:spPr>
          <a:xfrm>
            <a:off x="9281160" y="3739896"/>
            <a:ext cx="21031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investering, ≈ 10% rendement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40080" y="4800600"/>
            <a:ext cx="10908792" cy="1143000"/>
          </a:xfrm>
          <a:prstGeom prst="roundRect">
            <a:avLst>
              <a:gd name="adj" fmla="val 8000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914400" y="498348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7.846 wagens</a:t>
            </a:r>
            <a:pPr indent="0" marL="0">
              <a:buNone/>
            </a:pPr>
            <a:r>
              <a:rPr lang="en-US" sz="15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×  €1.500  =  </a:t>
            </a:r>
            <a:pPr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€ 11,77 mln besparing / jaar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914400" y="5413248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7.846 wagens</a:t>
            </a:r>
            <a:pPr indent="0" marL="0">
              <a:buNone/>
            </a:pPr>
            <a:r>
              <a:rPr lang="en-US" sz="15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×  €3.000  =  </a:t>
            </a:r>
            <a:pPr indent="0" marL="0">
              <a:buNone/>
            </a:pPr>
            <a:r>
              <a:rPr lang="en-US" sz="1500" b="1" dirty="0">
                <a:solidFill>
                  <a:srgbClr val="FFD2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€ 23,54 mln investering</a:t>
            </a:r>
            <a:pPr indent="0" marL="0">
              <a:buNone/>
            </a:pPr>
            <a:r>
              <a:rPr lang="en-US" sz="15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met ≈ 10% rendement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KAART GEBRACHT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Elke geschikte parking in Pont-à-Celles, gelokaliseerd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874520"/>
            <a:ext cx="5349240" cy="4142232"/>
          </a:xfrm>
          <a:prstGeom prst="roundRect">
            <a:avLst>
              <a:gd name="adj" fmla="val 176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4088" y="1938528"/>
            <a:ext cx="5221224" cy="401421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04088" y="5431536"/>
            <a:ext cx="5221224" cy="521208"/>
          </a:xfrm>
          <a:prstGeom prst="rect">
            <a:avLst/>
          </a:prstGeom>
          <a:solidFill>
            <a:srgbClr val="1F3864"/>
          </a:solidFill>
          <a:ln/>
        </p:spPr>
        <p:txBody>
          <a:bodyPr wrap="square" lIns="635" tIns="635" rIns="635" bIns="635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Gemeentegrens in blauw · gele stip = MS-cabine · oranje rand = parking net buiten de gemeente · interactieve kaart via de link.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6263640" y="1965960"/>
            <a:ext cx="5349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206 parkings · 7.846 plaatsen</a:t>
            </a:r>
            <a:endParaRPr lang="en-US" sz="2200" dirty="0"/>
          </a:p>
        </p:txBody>
      </p:sp>
      <p:sp>
        <p:nvSpPr>
          <p:cNvPr id="8" name="Text 5"/>
          <p:cNvSpPr/>
          <p:nvPr/>
        </p:nvSpPr>
        <p:spPr>
          <a:xfrm>
            <a:off x="6263640" y="2487168"/>
            <a:ext cx="5212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Interactieve kaart met per parking het geschatte aantal laadbare plaatsen.</a:t>
            </a:r>
            <a:endParaRPr lang="en-US" sz="1300" dirty="0"/>
          </a:p>
        </p:txBody>
      </p:sp>
      <p:sp>
        <p:nvSpPr>
          <p:cNvPr id="9" name="Text 6">
            <a:hlinkClick r:id="rId2" tooltip=""/>
          </p:cNvPr>
          <p:cNvSpPr/>
          <p:nvPr/>
        </p:nvSpPr>
        <p:spPr>
          <a:xfrm>
            <a:off x="6263640" y="3063240"/>
            <a:ext cx="5349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u="sng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johanmmk.github.io/gemeenten/Kaart_bedrijfsparkings_Pont_a_Celles.html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6263640" y="3703320"/>
            <a:ext cx="530352" cy="53035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1532" y="3841212"/>
            <a:ext cx="254569" cy="254569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6949440" y="3639312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Productie, logistiek, retail en garages — telkens met een onderbenutte aansluiting.</a:t>
            </a:r>
            <a:endParaRPr lang="en-US" sz="1350" dirty="0"/>
          </a:p>
        </p:txBody>
      </p:sp>
      <p:sp>
        <p:nvSpPr>
          <p:cNvPr id="13" name="Shape 9"/>
          <p:cNvSpPr/>
          <p:nvPr/>
        </p:nvSpPr>
        <p:spPr>
          <a:xfrm>
            <a:off x="6263640" y="4489704"/>
            <a:ext cx="530352" cy="53035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1532" y="4627596"/>
            <a:ext cx="254569" cy="254569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6949440" y="4425696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Geschat aantal plaatsen per site bepaalt de laad- en batterijcapaciteit.</a:t>
            </a:r>
            <a:endParaRPr lang="en-US" sz="1350" dirty="0"/>
          </a:p>
        </p:txBody>
      </p:sp>
      <p:sp>
        <p:nvSpPr>
          <p:cNvPr id="16" name="Shape 11"/>
          <p:cNvSpPr/>
          <p:nvPr/>
        </p:nvSpPr>
        <p:spPr>
          <a:xfrm>
            <a:off x="6263640" y="5276088"/>
            <a:ext cx="530352" cy="53035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01532" y="5413980"/>
            <a:ext cx="254569" cy="254569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6949440" y="5212080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kaart is de basis voor prioritering en gefaseerde uitrol.</a:t>
            </a:r>
            <a:endParaRPr lang="en-US" sz="1350" dirty="0"/>
          </a:p>
        </p:txBody>
      </p:sp>
      <p:sp>
        <p:nvSpPr>
          <p:cNvPr id="19" name="Text 13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</a:t>
            </a:r>
            <a:endParaRPr lang="en-US" sz="1000" dirty="0"/>
          </a:p>
        </p:txBody>
      </p:sp>
      <p:sp>
        <p:nvSpPr>
          <p:cNvPr id="20" name="Text 14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HET AANBOD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als een service — in vier fasen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2011680"/>
            <a:ext cx="2578608" cy="3611880"/>
          </a:xfrm>
          <a:prstGeom prst="roundRect">
            <a:avLst>
              <a:gd name="adj" fmla="val 354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04672" y="2286000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1093" y="2452421"/>
            <a:ext cx="307238" cy="30723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2487168" y="228600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DD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a.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804672" y="310896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Communicatie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804672" y="3547872"/>
            <a:ext cx="212140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samenwerking met de gemeente.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3383280" y="2011680"/>
            <a:ext cx="2578608" cy="3611880"/>
          </a:xfrm>
          <a:prstGeom prst="roundRect">
            <a:avLst>
              <a:gd name="adj" fmla="val 354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3639312" y="2286000"/>
            <a:ext cx="640080" cy="640080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05733" y="2452421"/>
            <a:ext cx="307238" cy="307238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5321808" y="228600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DD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b.</a:t>
            </a:r>
            <a:endParaRPr lang="en-US" sz="1800" dirty="0"/>
          </a:p>
        </p:txBody>
      </p:sp>
      <p:sp>
        <p:nvSpPr>
          <p:cNvPr id="14" name="Text 10"/>
          <p:cNvSpPr/>
          <p:nvPr/>
        </p:nvSpPr>
        <p:spPr>
          <a:xfrm>
            <a:off x="3639312" y="310896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Studie</a:t>
            </a:r>
            <a:endParaRPr lang="en-US" sz="1600" dirty="0"/>
          </a:p>
        </p:txBody>
      </p:sp>
      <p:sp>
        <p:nvSpPr>
          <p:cNvPr id="15" name="Text 11"/>
          <p:cNvSpPr/>
          <p:nvPr/>
        </p:nvSpPr>
        <p:spPr>
          <a:xfrm>
            <a:off x="3639312" y="3547872"/>
            <a:ext cx="2121408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cure, no pay: geen kosten tenzij we een oplossing vinden die de kost </a:t>
            </a:r>
            <a:pPr indent="0" marL="0">
              <a:lnSpc>
                <a:spcPct val="103000"/>
              </a:lnSpc>
              <a:buNone/>
            </a:pPr>
            <a:r>
              <a:rPr lang="en-US" sz="11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door 4 deelt</a:t>
            </a:r>
            <a:pPr indent="0" marL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(of door 3 bij professionele diesel) </a:t>
            </a:r>
            <a:pPr indent="0" marL="0">
              <a:lnSpc>
                <a:spcPct val="103000"/>
              </a:lnSpc>
              <a:buNone/>
            </a:pPr>
            <a:r>
              <a:rPr lang="en-US" sz="11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én een rendement op de batterij boven 10%</a:t>
            </a:r>
            <a:pPr indent="0" marL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haalt.</a:t>
            </a:r>
            <a:endParaRPr lang="en-US" sz="1100" dirty="0"/>
          </a:p>
        </p:txBody>
      </p:sp>
      <p:sp>
        <p:nvSpPr>
          <p:cNvPr id="16" name="Shape 12"/>
          <p:cNvSpPr/>
          <p:nvPr/>
        </p:nvSpPr>
        <p:spPr>
          <a:xfrm>
            <a:off x="6217920" y="1920240"/>
            <a:ext cx="2578608" cy="4297680"/>
          </a:xfrm>
          <a:prstGeom prst="roundRect">
            <a:avLst>
              <a:gd name="adj" fmla="val 3546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52400" dist="50800" dir="5400000">
              <a:srgbClr val="000000">
                <a:alpha val="22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6473952" y="2240280"/>
            <a:ext cx="640080" cy="640080"/>
          </a:xfrm>
          <a:prstGeom prst="ellipse">
            <a:avLst/>
          </a:prstGeom>
          <a:solidFill>
            <a:srgbClr val="2C4B82"/>
          </a:solidFill>
          <a:ln/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40373" y="2406701"/>
            <a:ext cx="307238" cy="307238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8156448" y="224028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5E78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c.</a:t>
            </a:r>
            <a:endParaRPr lang="en-US" sz="1800" dirty="0"/>
          </a:p>
        </p:txBody>
      </p:sp>
      <p:sp>
        <p:nvSpPr>
          <p:cNvPr id="20" name="Text 15"/>
          <p:cNvSpPr/>
          <p:nvPr/>
        </p:nvSpPr>
        <p:spPr>
          <a:xfrm>
            <a:off x="6473952" y="306324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Implementatie</a:t>
            </a:r>
            <a:endParaRPr lang="en-US" sz="1600" dirty="0"/>
          </a:p>
        </p:txBody>
      </p:sp>
      <p:sp>
        <p:nvSpPr>
          <p:cNvPr id="21" name="Text 16"/>
          <p:cNvSpPr/>
          <p:nvPr/>
        </p:nvSpPr>
        <p:spPr>
          <a:xfrm>
            <a:off x="6473952" y="3520440"/>
            <a:ext cx="212140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DCE6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Aankoop, leasing (operationeel) of concessie. Aankoopcentrale voor entiteiten met aanbesteding.</a:t>
            </a:r>
            <a:endParaRPr lang="en-US" sz="1150" dirty="0"/>
          </a:p>
        </p:txBody>
      </p:sp>
      <p:sp>
        <p:nvSpPr>
          <p:cNvPr id="22" name="Text 17"/>
          <p:cNvSpPr/>
          <p:nvPr/>
        </p:nvSpPr>
        <p:spPr>
          <a:xfrm>
            <a:off x="6473952" y="455371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Aankoop</a:t>
            </a:r>
            <a:endParaRPr lang="en-US" sz="1250" dirty="0"/>
          </a:p>
        </p:txBody>
      </p:sp>
      <p:sp>
        <p:nvSpPr>
          <p:cNvPr id="23" name="Text 18"/>
          <p:cNvSpPr/>
          <p:nvPr/>
        </p:nvSpPr>
        <p:spPr>
          <a:xfrm>
            <a:off x="8083296" y="455371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24" name="Text 19"/>
          <p:cNvSpPr/>
          <p:nvPr/>
        </p:nvSpPr>
        <p:spPr>
          <a:xfrm>
            <a:off x="6473952" y="491947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Leasing</a:t>
            </a:r>
            <a:endParaRPr lang="en-US" sz="1250" dirty="0"/>
          </a:p>
        </p:txBody>
      </p:sp>
      <p:sp>
        <p:nvSpPr>
          <p:cNvPr id="25" name="Text 20"/>
          <p:cNvSpPr/>
          <p:nvPr/>
        </p:nvSpPr>
        <p:spPr>
          <a:xfrm>
            <a:off x="8083296" y="491947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26" name="Text 21"/>
          <p:cNvSpPr/>
          <p:nvPr/>
        </p:nvSpPr>
        <p:spPr>
          <a:xfrm>
            <a:off x="6473952" y="528523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Concessie</a:t>
            </a:r>
            <a:endParaRPr lang="en-US" sz="1250" dirty="0"/>
          </a:p>
        </p:txBody>
      </p:sp>
      <p:sp>
        <p:nvSpPr>
          <p:cNvPr id="27" name="Text 22"/>
          <p:cNvSpPr/>
          <p:nvPr/>
        </p:nvSpPr>
        <p:spPr>
          <a:xfrm>
            <a:off x="8083296" y="528523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28" name="Text 23"/>
          <p:cNvSpPr/>
          <p:nvPr/>
        </p:nvSpPr>
        <p:spPr>
          <a:xfrm>
            <a:off x="6473952" y="565099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Aankoopcentrale</a:t>
            </a:r>
            <a:endParaRPr lang="en-US" sz="1250" dirty="0"/>
          </a:p>
        </p:txBody>
      </p:sp>
      <p:sp>
        <p:nvSpPr>
          <p:cNvPr id="29" name="Text 24"/>
          <p:cNvSpPr/>
          <p:nvPr/>
        </p:nvSpPr>
        <p:spPr>
          <a:xfrm>
            <a:off x="8083296" y="565099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30" name="Shape 25"/>
          <p:cNvSpPr/>
          <p:nvPr/>
        </p:nvSpPr>
        <p:spPr>
          <a:xfrm>
            <a:off x="9052560" y="2011680"/>
            <a:ext cx="2578608" cy="3611880"/>
          </a:xfrm>
          <a:prstGeom prst="roundRect">
            <a:avLst>
              <a:gd name="adj" fmla="val 354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31" name="Shape 26"/>
          <p:cNvSpPr/>
          <p:nvPr/>
        </p:nvSpPr>
        <p:spPr>
          <a:xfrm>
            <a:off x="9308592" y="2286000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3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75013" y="2452421"/>
            <a:ext cx="307238" cy="307238"/>
          </a:xfrm>
          <a:prstGeom prst="rect">
            <a:avLst/>
          </a:prstGeom>
        </p:spPr>
      </p:pic>
      <p:sp>
        <p:nvSpPr>
          <p:cNvPr id="33" name="Text 27"/>
          <p:cNvSpPr/>
          <p:nvPr/>
        </p:nvSpPr>
        <p:spPr>
          <a:xfrm>
            <a:off x="10991088" y="228600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DD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d.</a:t>
            </a:r>
            <a:endParaRPr lang="en-US" sz="1800" dirty="0"/>
          </a:p>
        </p:txBody>
      </p:sp>
      <p:sp>
        <p:nvSpPr>
          <p:cNvPr id="34" name="Text 28"/>
          <p:cNvSpPr/>
          <p:nvPr/>
        </p:nvSpPr>
        <p:spPr>
          <a:xfrm>
            <a:off x="9308592" y="310896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Exploitatie</a:t>
            </a:r>
            <a:endParaRPr lang="en-US" sz="1600" dirty="0"/>
          </a:p>
        </p:txBody>
      </p:sp>
      <p:sp>
        <p:nvSpPr>
          <p:cNvPr id="35" name="Text 29"/>
          <p:cNvSpPr/>
          <p:nvPr/>
        </p:nvSpPr>
        <p:spPr>
          <a:xfrm>
            <a:off x="9308592" y="3547872"/>
            <a:ext cx="212140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Energiebevoorrading, laadservices, afrekenen en mobiliteit.</a:t>
            </a:r>
            <a:endParaRPr lang="en-US" sz="1150" dirty="0"/>
          </a:p>
        </p:txBody>
      </p:sp>
      <p:sp>
        <p:nvSpPr>
          <p:cNvPr id="36" name="Text 30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</a:t>
            </a:r>
            <a:endParaRPr lang="en-US" sz="1000" dirty="0"/>
          </a:p>
        </p:txBody>
      </p:sp>
      <p:sp>
        <p:nvSpPr>
          <p:cNvPr id="37" name="Text 31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TOEKOMSTVAST · 1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Elke batterij en EV versterkt het net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61264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Elke stationaire batterij en elke EV op een slim laadplein verhoogt de loadfactor van de gebouwaansluiting — méér energie voor minder netkosten — en versterkt zo ook de loadfactor van heel Pont-à-Celles. Dat </a:t>
            </a:r>
            <a:pPr indent="0" marL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beschermt gezinnen en bedrijven tegen congestie.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40080" y="3886200"/>
            <a:ext cx="6126480" cy="1371600"/>
          </a:xfrm>
          <a:prstGeom prst="roundRect">
            <a:avLst>
              <a:gd name="adj" fmla="val 6667"/>
            </a:avLst>
          </a:prstGeom>
          <a:solidFill>
            <a:srgbClr val="E7F6EC"/>
          </a:solidFill>
          <a:ln/>
        </p:spPr>
      </p:sp>
      <p:sp>
        <p:nvSpPr>
          <p:cNvPr id="6" name="Shape 4"/>
          <p:cNvSpPr/>
          <p:nvPr/>
        </p:nvSpPr>
        <p:spPr>
          <a:xfrm>
            <a:off x="914400" y="4160520"/>
            <a:ext cx="640080" cy="64008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0821" y="4326941"/>
            <a:ext cx="307238" cy="30723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828800" y="4069080"/>
            <a:ext cx="4754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428 auto’s op 20 slimme parkings in Pont-à-Celles </a:t>
            </a:r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verhogen de loadfactor van 31% naar 57% en remmen de congestie af.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640080" y="5321808"/>
            <a:ext cx="6126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i="1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 Loadfactor t.o.v. referentiestation: kopstation GOUY 70 (70 kV), 5.2 km van Pont-à-Celles (laagste load van de cluster &lt;5 km). · v6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7132320" y="1828800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Loadfactor van het net in Pont-à-Celles</a:t>
            </a:r>
            <a:endParaRPr lang="en-US" sz="1400" dirty="0"/>
          </a:p>
        </p:txBody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69987" y="2286000"/>
            <a:ext cx="1691640" cy="979322"/>
          </a:xfrm>
          <a:prstGeom prst="rect">
            <a:avLst/>
          </a:prstGeom>
        </p:spPr>
      </p:pic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70694" y="2286000"/>
            <a:ext cx="1691640" cy="979322"/>
          </a:xfrm>
          <a:prstGeom prst="rect">
            <a:avLst/>
          </a:prstGeom>
        </p:spPr>
      </p:pic>
      <p:graphicFrame>
        <p:nvGraphicFramePr>
          <p:cNvPr id="13" name="Chart 0" descr=""/>
          <p:cNvGraphicFramePr/>
          <p:nvPr/>
        </p:nvGraphicFramePr>
        <p:xfrm>
          <a:off x="7040880" y="3246120"/>
          <a:ext cx="4572000" cy="19659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4"/>
          </a:graphicData>
        </a:graphic>
      </p:graphicFrame>
      <p:sp>
        <p:nvSpPr>
          <p:cNvPr id="14" name="Text 8"/>
          <p:cNvSpPr/>
          <p:nvPr/>
        </p:nvSpPr>
        <p:spPr>
          <a:xfrm>
            <a:off x="7040880" y="5248656"/>
            <a:ext cx="4572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i="1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Loadfactor van station GOUY 70 (70 kV) — dichtste kopstation bij Pont-à-Celles, op ± 5.2 km (laagste load van de cluster &lt;5 km). Flex ≈ 9 MW (11 kW/wagen + 10 kW batterij) op 60 MW firm capacity.</a:t>
            </a:r>
            <a:endParaRPr lang="en-US" sz="900" dirty="0"/>
          </a:p>
        </p:txBody>
      </p:sp>
      <p:sp>
        <p:nvSpPr>
          <p:cNvPr id="15" name="Shape 9"/>
          <p:cNvSpPr/>
          <p:nvPr/>
        </p:nvSpPr>
        <p:spPr>
          <a:xfrm>
            <a:off x="640080" y="5797296"/>
            <a:ext cx="10908792" cy="585216"/>
          </a:xfrm>
          <a:prstGeom prst="roundRect">
            <a:avLst>
              <a:gd name="adj" fmla="val 12500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6" name="Text 10"/>
          <p:cNvSpPr/>
          <p:nvPr/>
        </p:nvSpPr>
        <p:spPr>
          <a:xfrm>
            <a:off x="640080" y="5797296"/>
            <a:ext cx="10908792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Een slim laadplein zorgt voor een stijging van de bruikbare energie</a:t>
            </a:r>
            <a:endParaRPr lang="en-US" sz="13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voor bedrijven en gezinnen in Pont-à-Celles met </a:t>
            </a:r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+84%</a:t>
            </a:r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1300" dirty="0"/>
          </a:p>
        </p:txBody>
      </p:sp>
      <p:sp>
        <p:nvSpPr>
          <p:cNvPr id="17" name="Text 11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</a:t>
            </a:r>
            <a:endParaRPr lang="en-US" sz="1000" dirty="0"/>
          </a:p>
        </p:txBody>
      </p:sp>
      <p:sp>
        <p:nvSpPr>
          <p:cNvPr id="18" name="Text 12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TOEKOMSTVAST · 2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Lokale energie voor lokaal laden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7452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6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 zetten een lokaal energiecontract op dat energie uit lokale wind en zon levert voor lokale laadsessies — uitbreidbaar naar het verbruik van bedrijven en gezinnen.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40080" y="3017520"/>
            <a:ext cx="338328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14400" y="3291840"/>
            <a:ext cx="713232" cy="713232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9840" y="3477280"/>
            <a:ext cx="342351" cy="342351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914400" y="416052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Lokale opwek</a:t>
            </a:r>
            <a:endParaRPr lang="en-US" sz="1700" dirty="0"/>
          </a:p>
        </p:txBody>
      </p:sp>
      <p:sp>
        <p:nvSpPr>
          <p:cNvPr id="9" name="Text 6"/>
          <p:cNvSpPr/>
          <p:nvPr/>
        </p:nvSpPr>
        <p:spPr>
          <a:xfrm>
            <a:off x="914400" y="457200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Wind en zon uit de eigen regio.</a:t>
            </a:r>
            <a:endParaRPr lang="en-US" sz="1300" dirty="0"/>
          </a:p>
        </p:txBody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78224" y="3977640"/>
            <a:ext cx="274320" cy="274320"/>
          </a:xfrm>
          <a:prstGeom prst="rect">
            <a:avLst/>
          </a:prstGeom>
        </p:spPr>
      </p:pic>
      <p:sp>
        <p:nvSpPr>
          <p:cNvPr id="11" name="Shape 7"/>
          <p:cNvSpPr/>
          <p:nvPr/>
        </p:nvSpPr>
        <p:spPr>
          <a:xfrm>
            <a:off x="4407408" y="3017520"/>
            <a:ext cx="338328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Shape 8"/>
          <p:cNvSpPr/>
          <p:nvPr/>
        </p:nvSpPr>
        <p:spPr>
          <a:xfrm>
            <a:off x="4681728" y="3291840"/>
            <a:ext cx="713232" cy="71323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67168" y="3477280"/>
            <a:ext cx="342351" cy="342351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4681728" y="416052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Lokaal laden</a:t>
            </a:r>
            <a:endParaRPr lang="en-US" sz="1700" dirty="0"/>
          </a:p>
        </p:txBody>
      </p:sp>
      <p:sp>
        <p:nvSpPr>
          <p:cNvPr id="15" name="Text 10"/>
          <p:cNvSpPr/>
          <p:nvPr/>
        </p:nvSpPr>
        <p:spPr>
          <a:xfrm>
            <a:off x="4681728" y="457200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Directe inzet voor laadsessies op de pleinen.</a:t>
            </a:r>
            <a:endParaRPr lang="en-US" sz="1300" dirty="0"/>
          </a:p>
        </p:txBody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45552" y="3977640"/>
            <a:ext cx="274320" cy="274320"/>
          </a:xfrm>
          <a:prstGeom prst="rect">
            <a:avLst/>
          </a:prstGeom>
        </p:spPr>
      </p:pic>
      <p:sp>
        <p:nvSpPr>
          <p:cNvPr id="17" name="Shape 11"/>
          <p:cNvSpPr/>
          <p:nvPr/>
        </p:nvSpPr>
        <p:spPr>
          <a:xfrm>
            <a:off x="8174736" y="3017520"/>
            <a:ext cx="338328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8" name="Shape 12"/>
          <p:cNvSpPr/>
          <p:nvPr/>
        </p:nvSpPr>
        <p:spPr>
          <a:xfrm>
            <a:off x="8449056" y="3291840"/>
            <a:ext cx="713232" cy="71323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9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34496" y="3477280"/>
            <a:ext cx="342351" cy="342351"/>
          </a:xfrm>
          <a:prstGeom prst="rect">
            <a:avLst/>
          </a:prstGeom>
        </p:spPr>
      </p:pic>
      <p:sp>
        <p:nvSpPr>
          <p:cNvPr id="20" name="Text 13"/>
          <p:cNvSpPr/>
          <p:nvPr/>
        </p:nvSpPr>
        <p:spPr>
          <a:xfrm>
            <a:off x="8449056" y="416052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Uitbreidbaar</a:t>
            </a:r>
            <a:endParaRPr lang="en-US" sz="1700" dirty="0"/>
          </a:p>
        </p:txBody>
      </p:sp>
      <p:sp>
        <p:nvSpPr>
          <p:cNvPr id="21" name="Text 14"/>
          <p:cNvSpPr/>
          <p:nvPr/>
        </p:nvSpPr>
        <p:spPr>
          <a:xfrm>
            <a:off x="8449056" y="457200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Naar verbruik van bedrijven en gezinnen.</a:t>
            </a:r>
            <a:endParaRPr lang="en-US" sz="1300" dirty="0"/>
          </a:p>
        </p:txBody>
      </p:sp>
      <p:sp>
        <p:nvSpPr>
          <p:cNvPr id="22" name="Text 15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1000" dirty="0"/>
          </a:p>
        </p:txBody>
      </p:sp>
      <p:sp>
        <p:nvSpPr>
          <p:cNvPr id="23" name="Text 16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SAMENVATTING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Wat hebben we vandaag geleerd?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320040" y="2103120"/>
            <a:ext cx="3611880" cy="329184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12648" y="2395728"/>
            <a:ext cx="777240" cy="77724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4730" y="2597810"/>
            <a:ext cx="373075" cy="373075"/>
          </a:xfrm>
          <a:prstGeom prst="rect">
            <a:avLst/>
          </a:prstGeom>
        </p:spPr>
      </p:pic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16352" y="2286000"/>
            <a:ext cx="914400" cy="91440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612648" y="342900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9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Drastisch lagere km-kost</a:t>
            </a:r>
            <a:endParaRPr lang="en-US" sz="1900" dirty="0"/>
          </a:p>
        </p:txBody>
      </p:sp>
      <p:sp>
        <p:nvSpPr>
          <p:cNvPr id="9" name="Text 5"/>
          <p:cNvSpPr/>
          <p:nvPr/>
        </p:nvSpPr>
        <p:spPr>
          <a:xfrm>
            <a:off x="612648" y="4206240"/>
            <a:ext cx="3063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verlaagt de kost per kilometer in Pont-à-Celles drastisch.</a:t>
            </a:r>
            <a:endParaRPr lang="en-US" sz="1350" dirty="0"/>
          </a:p>
        </p:txBody>
      </p:sp>
      <p:sp>
        <p:nvSpPr>
          <p:cNvPr id="10" name="Shape 6"/>
          <p:cNvSpPr/>
          <p:nvPr/>
        </p:nvSpPr>
        <p:spPr>
          <a:xfrm>
            <a:off x="4288536" y="2103120"/>
            <a:ext cx="3611880" cy="329184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4581144" y="2395728"/>
            <a:ext cx="777240" cy="777240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83226" y="2597810"/>
            <a:ext cx="373075" cy="373075"/>
          </a:xfrm>
          <a:prstGeom prst="rect">
            <a:avLst/>
          </a:prstGeom>
        </p:spPr>
      </p:pic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84848" y="2286000"/>
            <a:ext cx="914400" cy="914400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4581144" y="342900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9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Congestie voorkomen</a:t>
            </a:r>
            <a:endParaRPr lang="en-US" sz="1900" dirty="0"/>
          </a:p>
        </p:txBody>
      </p:sp>
      <p:sp>
        <p:nvSpPr>
          <p:cNvPr id="15" name="Text 9"/>
          <p:cNvSpPr/>
          <p:nvPr/>
        </p:nvSpPr>
        <p:spPr>
          <a:xfrm>
            <a:off x="4581144" y="4206240"/>
            <a:ext cx="3063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+84% meer energie</a:t>
            </a:r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zonder uitbreiding van het net.</a:t>
            </a:r>
            <a:endParaRPr lang="en-US" sz="1350" dirty="0"/>
          </a:p>
        </p:txBody>
      </p:sp>
      <p:sp>
        <p:nvSpPr>
          <p:cNvPr id="16" name="Shape 10"/>
          <p:cNvSpPr/>
          <p:nvPr/>
        </p:nvSpPr>
        <p:spPr>
          <a:xfrm>
            <a:off x="8257032" y="2103120"/>
            <a:ext cx="3611880" cy="329184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7" name="Shape 11"/>
          <p:cNvSpPr/>
          <p:nvPr/>
        </p:nvSpPr>
        <p:spPr>
          <a:xfrm>
            <a:off x="8549640" y="2395728"/>
            <a:ext cx="777240" cy="777240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1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751722" y="2597810"/>
            <a:ext cx="373075" cy="373075"/>
          </a:xfrm>
          <a:prstGeom prst="rect">
            <a:avLst/>
          </a:prstGeom>
        </p:spPr>
      </p:pic>
      <p:pic>
        <p:nvPicPr>
          <p:cNvPr id="19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753344" y="2286000"/>
            <a:ext cx="914400" cy="914400"/>
          </a:xfrm>
          <a:prstGeom prst="rect">
            <a:avLst/>
          </a:prstGeom>
        </p:spPr>
      </p:pic>
      <p:sp>
        <p:nvSpPr>
          <p:cNvPr id="20" name="Text 12"/>
          <p:cNvSpPr/>
          <p:nvPr/>
        </p:nvSpPr>
        <p:spPr>
          <a:xfrm>
            <a:off x="8549640" y="342900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9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Lokaal voor lokaal</a:t>
            </a:r>
            <a:endParaRPr lang="en-US" sz="1900" dirty="0"/>
          </a:p>
        </p:txBody>
      </p:sp>
      <p:sp>
        <p:nvSpPr>
          <p:cNvPr id="21" name="Text 13"/>
          <p:cNvSpPr/>
          <p:nvPr/>
        </p:nvSpPr>
        <p:spPr>
          <a:xfrm>
            <a:off x="8549640" y="4206240"/>
            <a:ext cx="3063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Lokale injectie wordt lokaal verbruikt — eigen wind en zon voor eigen laden.</a:t>
            </a:r>
            <a:endParaRPr lang="en-US" sz="1350" dirty="0"/>
          </a:p>
        </p:txBody>
      </p:sp>
      <p:sp>
        <p:nvSpPr>
          <p:cNvPr id="22" name="Text 14"/>
          <p:cNvSpPr/>
          <p:nvPr/>
        </p:nvSpPr>
        <p:spPr>
          <a:xfrm>
            <a:off x="640080" y="566928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= goedkoper rijden, minder congestie én lokale energie lokaal benut.</a:t>
            </a:r>
            <a:endParaRPr lang="en-US" sz="1400" dirty="0"/>
          </a:p>
        </p:txBody>
      </p:sp>
      <p:sp>
        <p:nvSpPr>
          <p:cNvPr id="23" name="Text 15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1000" dirty="0"/>
          </a:p>
        </p:txBody>
      </p:sp>
      <p:sp>
        <p:nvSpPr>
          <p:cNvPr id="24" name="Text 16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3657600"/>
            <a:ext cx="5943600" cy="5943600"/>
          </a:xfrm>
          <a:prstGeom prst="ellipse">
            <a:avLst/>
          </a:prstGeom>
          <a:solidFill>
            <a:srgbClr val="27406F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VOLGENDE STAP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914400"/>
            <a:ext cx="1097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Werkvergadering met de aankoopcentrale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640080" y="187452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Insourcing van slim laden als een service, langs twee sporen: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40080" y="2560320"/>
            <a:ext cx="539496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914400" y="2834640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0821" y="3001061"/>
            <a:ext cx="307238" cy="307238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737360" y="288036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· Communicatieplan Pont-à-Celles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914400" y="3611880"/>
            <a:ext cx="4937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Samen met de gemeente het verhaal naar bedrijven en inwoners brengen.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6153912" y="2560320"/>
            <a:ext cx="539496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6428232" y="2834640"/>
            <a:ext cx="640080" cy="640080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94653" y="3001061"/>
            <a:ext cx="307238" cy="307238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7251192" y="2834640"/>
            <a:ext cx="4114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· Oplossingen voor overheidsopdrachten</a:t>
            </a:r>
            <a:endParaRPr lang="en-US" sz="1600" dirty="0"/>
          </a:p>
        </p:txBody>
      </p:sp>
      <p:sp>
        <p:nvSpPr>
          <p:cNvPr id="15" name="Text 11"/>
          <p:cNvSpPr/>
          <p:nvPr/>
        </p:nvSpPr>
        <p:spPr>
          <a:xfrm>
            <a:off x="6428232" y="3611880"/>
            <a:ext cx="4937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Laadoplossingen voor entiteiten onderhevig aan de wet overheidsopdrachten.</a:t>
            </a:r>
            <a:endParaRPr lang="en-US" sz="1300" dirty="0"/>
          </a:p>
        </p:txBody>
      </p:sp>
      <p:sp>
        <p:nvSpPr>
          <p:cNvPr id="16" name="Shape 12"/>
          <p:cNvSpPr/>
          <p:nvPr/>
        </p:nvSpPr>
        <p:spPr>
          <a:xfrm>
            <a:off x="640080" y="5074920"/>
            <a:ext cx="502920" cy="502920"/>
          </a:xfrm>
          <a:prstGeom prst="ellipse">
            <a:avLst/>
          </a:prstGeom>
          <a:solidFill>
            <a:srgbClr val="05B050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0839" y="5205679"/>
            <a:ext cx="241402" cy="241402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1325880" y="512064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johan@fluctus.net</a:t>
            </a:r>
            <a:pPr indent="0" marL="0">
              <a:buNone/>
            </a:pPr>
            <a:r>
              <a:rPr lang="en-US" sz="17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·     fluctus.net</a:t>
            </a:r>
            <a:endParaRPr lang="en-US" sz="1700" dirty="0"/>
          </a:p>
        </p:txBody>
      </p:sp>
      <p:sp>
        <p:nvSpPr>
          <p:cNvPr id="19" name="Text 14"/>
          <p:cNvSpPr/>
          <p:nvPr/>
        </p:nvSpPr>
        <p:spPr>
          <a:xfrm>
            <a:off x="640080" y="59893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Toekomstvast laadplan voor Pont-à-Celles</dc:title>
  <dc:subject>PptxGenJS Presentation</dc:subject>
  <dc:creator>Fluctus</dc:creator>
  <cp:lastModifiedBy>Fluctus</cp:lastModifiedBy>
  <cp:revision>1</cp:revision>
  <dcterms:created xsi:type="dcterms:W3CDTF">2026-06-24T01:55:42Z</dcterms:created>
  <dcterms:modified xsi:type="dcterms:W3CDTF">2026-06-24T01:55:42Z</dcterms:modified>
</cp:coreProperties>
</file>