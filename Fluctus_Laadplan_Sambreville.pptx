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396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39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96.xlsx"/></Relationships>
</file>

<file path=ppt/charts/chart39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Loadfactor</c:v>
                </c:pt>
              </c:strCache>
            </c:strRef>
          </c:tx>
          <c:spPr>
            <a:solidFill>
              <a:srgbClr val="1F3864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1A1A1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F386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5B050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Vandaag</c:v>
                  </c:pt>
                  <c:pt idx="1">
                    <c:v>Met slim laden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32</c:v>
                </c:pt>
                <c:pt idx="1">
                  <c:v>64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1" i="0" strike="noStrike" sz="1300" u="none">
                  <a:solidFill>
                    <a:srgbClr val="1A1A1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1A1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80"/>
          <c:min val="0"/>
        </c:scaling>
        <c:delete val="0"/>
        <c:axPos val="l"/>
        <c:majorGridlines>
          <c:spPr>
            <a:ln w="6350" cap="flat">
              <a:solidFill>
                <a:srgbClr val="EDF1F6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47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johanmmk.github.io/gemeenten/Kaart_bedrijfsparkings_Sambreville.html" TargetMode="External"/><Relationship Id="rId1" Type="http://schemas.openxmlformats.org/officeDocument/2006/relationships/image" Target="../media/image-7-1.png"/><Relationship Id="rId3" Type="http://schemas.openxmlformats.org/officeDocument/2006/relationships/image" Target="../media/image-7-2.png"/><Relationship Id="rId4" Type="http://schemas.openxmlformats.org/officeDocument/2006/relationships/image" Target="../media/image-7-3.png"/><Relationship Id="rId5" Type="http://schemas.openxmlformats.org/officeDocument/2006/relationships/image" Target="../media/image-7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chart" Target="/ppt/charts/chart396.xml"/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3291840"/>
            <a:ext cx="3840480" cy="3840480"/>
          </a:xfrm>
          <a:prstGeom prst="ellipse">
            <a:avLst/>
          </a:prstGeom>
          <a:solidFill>
            <a:srgbClr val="24395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4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331720" y="603504"/>
            <a:ext cx="146304" cy="146304"/>
          </a:xfrm>
          <a:prstGeom prst="ellipse">
            <a:avLst/>
          </a:prstGeom>
          <a:solidFill>
            <a:srgbClr val="05B050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2148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468880"/>
            <a:ext cx="8412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Meer EV in</a:t>
            </a:r>
            <a:endParaRPr lang="en-US" sz="46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Sambreville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4572000" y="3246120"/>
            <a:ext cx="7132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1. Kilometer kost gedeeld door 4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2. Congestie voorkomen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3. Lokale energie voor lokale EV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58368" y="5440680"/>
            <a:ext cx="457200" cy="45720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559552"/>
            <a:ext cx="219456" cy="21945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280160" y="550468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 Konings · johan@fluctus.net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MARKT VERSNELT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 laden schaalt razendsnel op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40280"/>
            <a:ext cx="749808" cy="74980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9350" y="2435230"/>
            <a:ext cx="359908" cy="3599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100.000+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914400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publieke laadpunten in België vandaag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517136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91456" y="2240280"/>
            <a:ext cx="749808" cy="749808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6406" y="2435230"/>
            <a:ext cx="359908" cy="3599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91456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380.000+</a:t>
            </a:r>
            <a:endParaRPr lang="en-US" sz="4000" dirty="0"/>
          </a:p>
        </p:txBody>
      </p:sp>
      <p:sp>
        <p:nvSpPr>
          <p:cNvPr id="13" name="Text 9"/>
          <p:cNvSpPr/>
          <p:nvPr/>
        </p:nvSpPr>
        <p:spPr>
          <a:xfrm>
            <a:off x="4791456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volledig elektrische personenauto’s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8394192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668512" y="2240280"/>
            <a:ext cx="749808" cy="749808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3462" y="2435230"/>
            <a:ext cx="359908" cy="3599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668512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220.000</a:t>
            </a:r>
            <a:endParaRPr lang="en-US" sz="4000" dirty="0"/>
          </a:p>
        </p:txBody>
      </p:sp>
      <p:sp>
        <p:nvSpPr>
          <p:cNvPr id="18" name="Text 13"/>
          <p:cNvSpPr/>
          <p:nvPr/>
        </p:nvSpPr>
        <p:spPr>
          <a:xfrm>
            <a:off x="8668512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verwacht aantal laadpunten — een verdubbeling tegen 2030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640080" y="5029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vraag naar laadcapaciteit groeit sneller dan het net wordt verzwaard. De winst zit in slimmer gebruik van bestaande aansluitingen.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640080" y="58978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Bron: EV Belgium (ev.be) — persbericht 20/08/2025.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PROBLEEM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gangbare laadstrategieën lopen vast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5856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2424989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214884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Thuisladen is duur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828800" y="253288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werknemers verhoogt thuisladen de capaciteitskosten (capaciteitstarief) — net op de piekmomenten.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40080" y="338328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914400" y="367588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821" y="3842309"/>
            <a:ext cx="307238" cy="30723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828800" y="356616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Vlucht naar publieke superchargers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1828800" y="395020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Werknemers wijken uit naar publieke snelladers. Dat drijft de kost op én overbelast pleinen met beperkte capaciteit, met performantieverlies tot gevolg.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40080" y="480060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14400" y="5093208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821" y="5259629"/>
            <a:ext cx="307238" cy="30723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828800" y="498348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smaken, beide suboptimaal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1828800" y="536752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Strategieën mikken ofwel op laden buiten de werkuren, ofwel op supersnelladen.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van beide benut de aansluiting waar ze al sterk is.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BETERE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Laden waar de aansluiting onderbenut is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96596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meeste bedrijven en overheden gebruiken hun aansluiting voor amper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terwijl ze ze voor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betalen.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3063240"/>
            <a:ext cx="6035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 zo’n locatie kunnen we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keer zoveel energie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auto’s steken als het gebouw zelf verbruikt —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zonder één euro extra netkosten.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4434840"/>
            <a:ext cx="566928" cy="56692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7481" y="4582241"/>
            <a:ext cx="272125" cy="27212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448056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netverzwaring. Geen extra aansluitvermogen. Wel meer geladen kilometers.</a:t>
            </a:r>
            <a:endParaRPr lang="en-US" sz="13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1371600"/>
            <a:ext cx="2560320" cy="1819656"/>
          </a:xfrm>
          <a:prstGeom prst="rect">
            <a:avLst/>
          </a:prstGeom>
        </p:spPr>
      </p:pic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3310128"/>
            <a:ext cx="2560320" cy="2020824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640080" y="5486400"/>
            <a:ext cx="10908792" cy="868680"/>
          </a:xfrm>
          <a:prstGeom prst="roundRect">
            <a:avLst>
              <a:gd name="adj" fmla="val 1052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7"/>
          <p:cNvSpPr/>
          <p:nvPr/>
        </p:nvSpPr>
        <p:spPr>
          <a:xfrm>
            <a:off x="868680" y="5641848"/>
            <a:ext cx="548640" cy="54864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1326" y="5784494"/>
            <a:ext cx="263347" cy="263347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572768" y="5650992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</a:t>
            </a:r>
            <a:endParaRPr lang="en-US" sz="1700" dirty="0"/>
          </a:p>
        </p:txBody>
      </p:sp>
      <p:sp>
        <p:nvSpPr>
          <p:cNvPr id="15" name="Text 9"/>
          <p:cNvSpPr/>
          <p:nvPr/>
        </p:nvSpPr>
        <p:spPr>
          <a:xfrm>
            <a:off x="3154680" y="5577840"/>
            <a:ext cx="5029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verhouding tussen het werkelijke verbruik per jaar en de energie die geleverd zou kunnen worden als men constant op het maximale vermogen zou leveren.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8366760" y="5577840"/>
            <a:ext cx="3063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Lage loadfactor = </a:t>
            </a:r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veel ongebruikte, al betaalde capaciteit.</a:t>
            </a:r>
            <a:endParaRPr lang="en-US" sz="115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MOTOR ONDER DE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Stationaire batterijen verlagen de kost per kilometer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 een batterijbuffer haalt de parking energie binnen op momenten dat de energiemarkt zeer goedkoop is — opnieuw zonder extra netkosten.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184672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96112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1/4</a:t>
            </a:r>
            <a:endParaRPr lang="en-US" sz="4400" dirty="0"/>
          </a:p>
        </p:txBody>
      </p:sp>
      <p:sp>
        <p:nvSpPr>
          <p:cNvPr id="9" name="Text 6"/>
          <p:cNvSpPr/>
          <p:nvPr/>
        </p:nvSpPr>
        <p:spPr>
          <a:xfrm>
            <a:off x="914400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van de kost per km t.o.v. diesel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517136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91456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6896" y="3184672"/>
            <a:ext cx="342351" cy="34235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73168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1/3</a:t>
            </a:r>
            <a:endParaRPr lang="en-US" sz="4400" dirty="0"/>
          </a:p>
        </p:txBody>
      </p:sp>
      <p:sp>
        <p:nvSpPr>
          <p:cNvPr id="14" name="Text 10"/>
          <p:cNvSpPr/>
          <p:nvPr/>
        </p:nvSpPr>
        <p:spPr>
          <a:xfrm>
            <a:off x="4791456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t.o.v. professionele diesel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8394192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668512" y="2999232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3952" y="3184672"/>
            <a:ext cx="342351" cy="342351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650224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10%</a:t>
            </a:r>
            <a:endParaRPr lang="en-US" sz="4400" dirty="0"/>
          </a:p>
        </p:txBody>
      </p:sp>
      <p:sp>
        <p:nvSpPr>
          <p:cNvPr id="19" name="Text 14"/>
          <p:cNvSpPr/>
          <p:nvPr/>
        </p:nvSpPr>
        <p:spPr>
          <a:xfrm>
            <a:off x="8668512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rendement op de batterij-investering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640080" y="54864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Goedkoper rijden én een rendabele batterij: de business case betaalt zichzelf terug.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KERNCIJFERS · SAMBREVILLE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dit concreet betekent voor Sambreville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3.775 wagens zijn de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personeelswagens van bedrijven in en rond Sambreville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(de gemeente zelf + 35 parkings in de band van ±2 km rond de grens)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Elke wagen levert dat bedrijf </a:t>
            </a:r>
            <a:pPr indent="0" marL="0">
              <a:buNone/>
            </a:pPr>
            <a:r>
              <a:rPr lang="en-US" sz="15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€1.500 besparing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op en gaat gepaard met een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 van €3.000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(≈ 10% rendement).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3.775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804672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elektrische personeelswagens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65576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02736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94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630168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bedrijfsparkings in en rond de gemeente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91072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28232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€ 5,66 mln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6455664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jaarlijkse besparing voor bedrijven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116568" y="2606040"/>
            <a:ext cx="2432304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253728" y="2770632"/>
            <a:ext cx="21579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€ 11,32 mln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9281160" y="3739896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investering, ≈ 10% rendement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4800600"/>
            <a:ext cx="10908792" cy="1143000"/>
          </a:xfrm>
          <a:prstGeom prst="roundRect">
            <a:avLst>
              <a:gd name="adj" fmla="val 80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14400" y="49834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3.775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€1.500  =  </a:t>
            </a:r>
            <a:pPr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€ 5,66 mln besparing / jaar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14400" y="541324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3.775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€3.000  =  </a:t>
            </a:r>
            <a:pPr indent="0" marL="0">
              <a:buNone/>
            </a:pPr>
            <a:r>
              <a:rPr lang="en-US" sz="1500" b="1" dirty="0">
                <a:solidFill>
                  <a:srgbClr val="FFD2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€ 11,32 mln investering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met ≈ 10% rendement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KAART GEBRACHT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geschikte parking in Sambreville, gelokaliseerd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349240" cy="4142232"/>
          </a:xfrm>
          <a:prstGeom prst="roundRect">
            <a:avLst>
              <a:gd name="adj" fmla="val 176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1938528"/>
            <a:ext cx="5221224" cy="401421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04088" y="5431536"/>
            <a:ext cx="5221224" cy="521208"/>
          </a:xfrm>
          <a:prstGeom prst="rect">
            <a:avLst/>
          </a:prstGeom>
          <a:solidFill>
            <a:srgbClr val="1F3864"/>
          </a:solidFill>
          <a:ln/>
        </p:spPr>
        <p:txBody>
          <a:bodyPr wrap="square" lIns="635" tIns="635" rIns="635" bIns="635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Gemeentegrens in blauw · gele stip = MS-cabine · oranje rand = parking net buiten de gemeente · interactieve kaart via de link.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6263640" y="1965960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94 parkings · 3.775 plaatsen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6263640" y="2487168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Interactieve kaart met per parking het geschatte aantal laadbare plaatsen.</a:t>
            </a:r>
            <a:endParaRPr lang="en-US" sz="1300" dirty="0"/>
          </a:p>
        </p:txBody>
      </p:sp>
      <p:sp>
        <p:nvSpPr>
          <p:cNvPr id="9" name="Text 6">
            <a:hlinkClick r:id="rId2" tooltip=""/>
          </p:cNvPr>
          <p:cNvSpPr/>
          <p:nvPr/>
        </p:nvSpPr>
        <p:spPr>
          <a:xfrm>
            <a:off x="6263640" y="3063240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u="sng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johanmmk.github.io/gemeenten/Kaart_bedrijfsparkings_Sambreville.html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6263640" y="3703320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1532" y="3841212"/>
            <a:ext cx="254569" cy="254569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949440" y="3639312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Productie, logistiek, retail en garages — telkens met een onderbenutte aansluiting.</a:t>
            </a:r>
            <a:endParaRPr lang="en-US" sz="1350" dirty="0"/>
          </a:p>
        </p:txBody>
      </p:sp>
      <p:sp>
        <p:nvSpPr>
          <p:cNvPr id="13" name="Shape 9"/>
          <p:cNvSpPr/>
          <p:nvPr/>
        </p:nvSpPr>
        <p:spPr>
          <a:xfrm>
            <a:off x="6263640" y="4489704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1532" y="4627596"/>
            <a:ext cx="254569" cy="254569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949440" y="4425696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Geschat aantal plaatsen per site bepaalt de laad- en batterijcapaciteit.</a:t>
            </a:r>
            <a:endParaRPr lang="en-US" sz="1350" dirty="0"/>
          </a:p>
        </p:txBody>
      </p:sp>
      <p:sp>
        <p:nvSpPr>
          <p:cNvPr id="16" name="Shape 11"/>
          <p:cNvSpPr/>
          <p:nvPr/>
        </p:nvSpPr>
        <p:spPr>
          <a:xfrm>
            <a:off x="6263640" y="5276088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1532" y="5413980"/>
            <a:ext cx="254569" cy="254569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949440" y="521208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kaart is de basis voor prioritering en gefaseerde uitrol.</a:t>
            </a:r>
            <a:endParaRPr lang="en-US" sz="1350" dirty="0"/>
          </a:p>
        </p:txBody>
      </p:sp>
      <p:sp>
        <p:nvSpPr>
          <p:cNvPr id="19" name="Text 13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000" dirty="0"/>
          </a:p>
        </p:txBody>
      </p:sp>
      <p:sp>
        <p:nvSpPr>
          <p:cNvPr id="20" name="Text 14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AANBOD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 — in vier fasen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093" y="2452421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48716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0467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Communicatie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0467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samenwerking met de gemeente.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38328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39312" y="228600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5733" y="2452421"/>
            <a:ext cx="307238" cy="30723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2180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363931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Studie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3639312" y="3547872"/>
            <a:ext cx="212140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cure, no pay: geen kosten tenzij we een oplossing vinden die de kost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door 4 deelt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(of door 3 bij professionele diesel)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én een rendement op de batterij boven 10%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haalt.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217920" y="1920240"/>
            <a:ext cx="2578608" cy="4297680"/>
          </a:xfrm>
          <a:prstGeom prst="roundRect">
            <a:avLst>
              <a:gd name="adj" fmla="val 354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52400" dist="50800" dir="5400000">
              <a:srgbClr val="000000">
                <a:alpha val="2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473952" y="2240280"/>
            <a:ext cx="640080" cy="64008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0373" y="2406701"/>
            <a:ext cx="307238" cy="30723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156448" y="224028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5E7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6473952" y="306324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Implementatie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6473952" y="3520440"/>
            <a:ext cx="21214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Aankoop, leasing (operationeel) of concessie. Aankoopcentrale voor entiteiten met aanbesteding.</a:t>
            </a:r>
            <a:endParaRPr lang="en-US" sz="1150" dirty="0"/>
          </a:p>
        </p:txBody>
      </p:sp>
      <p:sp>
        <p:nvSpPr>
          <p:cNvPr id="22" name="Text 17"/>
          <p:cNvSpPr/>
          <p:nvPr/>
        </p:nvSpPr>
        <p:spPr>
          <a:xfrm>
            <a:off x="6473952" y="455371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</a:t>
            </a:r>
            <a:endParaRPr lang="en-US" sz="1250" dirty="0"/>
          </a:p>
        </p:txBody>
      </p:sp>
      <p:sp>
        <p:nvSpPr>
          <p:cNvPr id="23" name="Text 18"/>
          <p:cNvSpPr/>
          <p:nvPr/>
        </p:nvSpPr>
        <p:spPr>
          <a:xfrm>
            <a:off x="8083296" y="455371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4" name="Text 19"/>
          <p:cNvSpPr/>
          <p:nvPr/>
        </p:nvSpPr>
        <p:spPr>
          <a:xfrm>
            <a:off x="6473952" y="491947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Leasing</a:t>
            </a:r>
            <a:endParaRPr lang="en-US" sz="1250" dirty="0"/>
          </a:p>
        </p:txBody>
      </p:sp>
      <p:sp>
        <p:nvSpPr>
          <p:cNvPr id="25" name="Text 20"/>
          <p:cNvSpPr/>
          <p:nvPr/>
        </p:nvSpPr>
        <p:spPr>
          <a:xfrm>
            <a:off x="8083296" y="491947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6" name="Text 21"/>
          <p:cNvSpPr/>
          <p:nvPr/>
        </p:nvSpPr>
        <p:spPr>
          <a:xfrm>
            <a:off x="6473952" y="528523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Concessie</a:t>
            </a:r>
            <a:endParaRPr lang="en-US" sz="1250" dirty="0"/>
          </a:p>
        </p:txBody>
      </p:sp>
      <p:sp>
        <p:nvSpPr>
          <p:cNvPr id="27" name="Text 22"/>
          <p:cNvSpPr/>
          <p:nvPr/>
        </p:nvSpPr>
        <p:spPr>
          <a:xfrm>
            <a:off x="8083296" y="528523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8" name="Text 23"/>
          <p:cNvSpPr/>
          <p:nvPr/>
        </p:nvSpPr>
        <p:spPr>
          <a:xfrm>
            <a:off x="6473952" y="565099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Aankoopcentrale</a:t>
            </a:r>
            <a:endParaRPr lang="en-US" sz="1250" dirty="0"/>
          </a:p>
        </p:txBody>
      </p:sp>
      <p:sp>
        <p:nvSpPr>
          <p:cNvPr id="29" name="Text 24"/>
          <p:cNvSpPr/>
          <p:nvPr/>
        </p:nvSpPr>
        <p:spPr>
          <a:xfrm>
            <a:off x="8083296" y="565099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30" name="Shape 25"/>
          <p:cNvSpPr/>
          <p:nvPr/>
        </p:nvSpPr>
        <p:spPr>
          <a:xfrm>
            <a:off x="905256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31" name="Shape 26"/>
          <p:cNvSpPr/>
          <p:nvPr/>
        </p:nvSpPr>
        <p:spPr>
          <a:xfrm>
            <a:off x="930859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75013" y="2452421"/>
            <a:ext cx="307238" cy="307238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1099108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</a:t>
            </a:r>
            <a:endParaRPr lang="en-US" sz="1800" dirty="0"/>
          </a:p>
        </p:txBody>
      </p:sp>
      <p:sp>
        <p:nvSpPr>
          <p:cNvPr id="34" name="Text 28"/>
          <p:cNvSpPr/>
          <p:nvPr/>
        </p:nvSpPr>
        <p:spPr>
          <a:xfrm>
            <a:off x="930859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Exploitatie</a:t>
            </a:r>
            <a:endParaRPr lang="en-US" sz="1600" dirty="0"/>
          </a:p>
        </p:txBody>
      </p:sp>
      <p:sp>
        <p:nvSpPr>
          <p:cNvPr id="35" name="Text 29"/>
          <p:cNvSpPr/>
          <p:nvPr/>
        </p:nvSpPr>
        <p:spPr>
          <a:xfrm>
            <a:off x="930859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Energiebevoorrading, laadservices, afrekenen en mobiliteit.</a:t>
            </a:r>
            <a:endParaRPr lang="en-US" sz="1150" dirty="0"/>
          </a:p>
        </p:txBody>
      </p:sp>
      <p:sp>
        <p:nvSpPr>
          <p:cNvPr id="36" name="Text 30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000" dirty="0"/>
          </a:p>
        </p:txBody>
      </p:sp>
      <p:sp>
        <p:nvSpPr>
          <p:cNvPr id="37" name="Text 31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batterij en EV versterkt het net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6126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stationaire batterij en elke EV op een slim laadplein verhoogt de loadfactor van de gebouwaansluiting — méér energie voor minder netkosten — en versterkt zo ook de loadfactor van heel Sambreville. Dat </a:t>
            </a:r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beschermt gezinnen en bedrijven tegen congestie.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886200"/>
            <a:ext cx="6126480" cy="1371600"/>
          </a:xfrm>
          <a:prstGeom prst="roundRect">
            <a:avLst>
              <a:gd name="adj" fmla="val 6667"/>
            </a:avLst>
          </a:prstGeom>
          <a:solidFill>
            <a:srgbClr val="E7F6EC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416052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4326941"/>
            <a:ext cx="307238" cy="30723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28800" y="406908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2.303 auto’s op 59 slimme parkings in Sambreville 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verhogen de loadfactor van 32% naar 64% en remmen de congestie af.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40080" y="5321808"/>
            <a:ext cx="6126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 Loadfactor t.o.v. referentiestation: kopstation AUVEL 70 (70 kV), 1.2 km van Sambreville (laagste load van de cluster &lt;5 km). · v6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7132320" y="18288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het net in Sambreville</a:t>
            </a:r>
            <a:endParaRPr lang="en-US" sz="14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9987" y="2286000"/>
            <a:ext cx="1691640" cy="979322"/>
          </a:xfrm>
          <a:prstGeom prst="rect">
            <a:avLst/>
          </a:prstGeom>
        </p:spPr>
      </p:pic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0694" y="2286000"/>
            <a:ext cx="1691640" cy="979322"/>
          </a:xfrm>
          <a:prstGeom prst="rect">
            <a:avLst/>
          </a:prstGeom>
        </p:spPr>
      </p:pic>
      <p:graphicFrame>
        <p:nvGraphicFramePr>
          <p:cNvPr id="13" name="Chart 0" descr=""/>
          <p:cNvGraphicFramePr/>
          <p:nvPr/>
        </p:nvGraphicFramePr>
        <p:xfrm>
          <a:off x="7040880" y="3246120"/>
          <a:ext cx="4572000" cy="1965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4" name="Text 8"/>
          <p:cNvSpPr/>
          <p:nvPr/>
        </p:nvSpPr>
        <p:spPr>
          <a:xfrm>
            <a:off x="7040880" y="5248656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station AUVEL 70 (70 kV) — dichtste kopstation bij Sambreville, op ± 1.2 km (laagste load van de cluster &lt;5 km). Flex ≈ 10 MW (11 kW/wagen + 10 kW batterij) op 50 MW firm capacity.</a:t>
            </a:r>
            <a:endParaRPr lang="en-US" sz="900" dirty="0"/>
          </a:p>
        </p:txBody>
      </p:sp>
      <p:sp>
        <p:nvSpPr>
          <p:cNvPr id="15" name="Shape 9"/>
          <p:cNvSpPr/>
          <p:nvPr/>
        </p:nvSpPr>
        <p:spPr>
          <a:xfrm>
            <a:off x="640080" y="5797296"/>
            <a:ext cx="10908792" cy="585216"/>
          </a:xfrm>
          <a:prstGeom prst="roundRect">
            <a:avLst>
              <a:gd name="adj" fmla="val 125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Text 10"/>
          <p:cNvSpPr/>
          <p:nvPr/>
        </p:nvSpPr>
        <p:spPr>
          <a:xfrm>
            <a:off x="640080" y="5797296"/>
            <a:ext cx="1090879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Een slim laadplein zorgt voor een stijging van de bruikbare energie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bedrijven en gezinnen in Sambreville met 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+100%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30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energie voor lokaal laden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zetten een lokaal energiecontract op dat energie uit lokale wind en zon levert voor lokale laadsessies — uitbreidbaar naar het verbruik van bedrijven en gezinnen.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3291840"/>
            <a:ext cx="713232" cy="713232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477280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opwek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914400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 en zon uit de eigen regio.</a:t>
            </a:r>
            <a:endParaRPr lang="en-US" sz="13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8224" y="3977640"/>
            <a:ext cx="274320" cy="27432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407408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681728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7168" y="3477280"/>
            <a:ext cx="342351" cy="342351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681728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laden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4681728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Directe inzet voor laadsessies op de pleinen.</a:t>
            </a:r>
            <a:endParaRPr lang="en-US" sz="13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5552" y="3977640"/>
            <a:ext cx="274320" cy="274320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8174736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Shape 12"/>
          <p:cNvSpPr/>
          <p:nvPr/>
        </p:nvSpPr>
        <p:spPr>
          <a:xfrm>
            <a:off x="8449056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34496" y="3477280"/>
            <a:ext cx="342351" cy="342351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8449056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Uitbreidbaar</a:t>
            </a:r>
            <a:endParaRPr lang="en-US" sz="1700" dirty="0"/>
          </a:p>
        </p:txBody>
      </p:sp>
      <p:sp>
        <p:nvSpPr>
          <p:cNvPr id="21" name="Text 14"/>
          <p:cNvSpPr/>
          <p:nvPr/>
        </p:nvSpPr>
        <p:spPr>
          <a:xfrm>
            <a:off x="8449056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Naar verbruik van bedrijven en gezinnen.</a:t>
            </a:r>
            <a:endParaRPr lang="en-US" sz="1300" dirty="0"/>
          </a:p>
        </p:txBody>
      </p:sp>
      <p:sp>
        <p:nvSpPr>
          <p:cNvPr id="22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23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SAMENVATTING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hebben we vandaag geleerd?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12648" y="2395728"/>
            <a:ext cx="777240" cy="77724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4730" y="2597810"/>
            <a:ext cx="373075" cy="373075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6352" y="2286000"/>
            <a:ext cx="914400" cy="9144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12648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Drastisch lagere km-kost</a:t>
            </a:r>
            <a:endParaRPr lang="en-US" sz="1900" dirty="0"/>
          </a:p>
        </p:txBody>
      </p:sp>
      <p:sp>
        <p:nvSpPr>
          <p:cNvPr id="9" name="Text 5"/>
          <p:cNvSpPr/>
          <p:nvPr/>
        </p:nvSpPr>
        <p:spPr>
          <a:xfrm>
            <a:off x="612648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verlaagt de kost per kilometer in Sambreville drastisch.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4288536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581144" y="2395728"/>
            <a:ext cx="777240" cy="77724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3226" y="2597810"/>
            <a:ext cx="373075" cy="373075"/>
          </a:xfrm>
          <a:prstGeom prst="rect">
            <a:avLst/>
          </a:prstGeom>
        </p:spPr>
      </p:pic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4848" y="2286000"/>
            <a:ext cx="914400" cy="9144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581144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Congestie voorkomen</a:t>
            </a:r>
            <a:endParaRPr lang="en-US" sz="1900" dirty="0"/>
          </a:p>
        </p:txBody>
      </p:sp>
      <p:sp>
        <p:nvSpPr>
          <p:cNvPr id="15" name="Text 9"/>
          <p:cNvSpPr/>
          <p:nvPr/>
        </p:nvSpPr>
        <p:spPr>
          <a:xfrm>
            <a:off x="4581144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+100% meer energie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zonder uitbreiding van het net.</a:t>
            </a:r>
            <a:endParaRPr lang="en-US" sz="1350" dirty="0"/>
          </a:p>
        </p:txBody>
      </p:sp>
      <p:sp>
        <p:nvSpPr>
          <p:cNvPr id="16" name="Shape 10"/>
          <p:cNvSpPr/>
          <p:nvPr/>
        </p:nvSpPr>
        <p:spPr>
          <a:xfrm>
            <a:off x="8257032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1"/>
          <p:cNvSpPr/>
          <p:nvPr/>
        </p:nvSpPr>
        <p:spPr>
          <a:xfrm>
            <a:off x="8549640" y="2395728"/>
            <a:ext cx="777240" cy="77724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51722" y="2597810"/>
            <a:ext cx="373075" cy="373075"/>
          </a:xfrm>
          <a:prstGeom prst="rect">
            <a:avLst/>
          </a:prstGeom>
        </p:spPr>
      </p:pic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53344" y="2286000"/>
            <a:ext cx="914400" cy="91440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8549640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voor lokaal</a:t>
            </a:r>
            <a:endParaRPr lang="en-US" sz="1900" dirty="0"/>
          </a:p>
        </p:txBody>
      </p:sp>
      <p:sp>
        <p:nvSpPr>
          <p:cNvPr id="21" name="Text 13"/>
          <p:cNvSpPr/>
          <p:nvPr/>
        </p:nvSpPr>
        <p:spPr>
          <a:xfrm>
            <a:off x="8549640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injectie wordt lokaal verbruikt — eigen wind en zon voor eigen laden.</a:t>
            </a:r>
            <a:endParaRPr lang="en-US" sz="1350" dirty="0"/>
          </a:p>
        </p:txBody>
      </p:sp>
      <p:sp>
        <p:nvSpPr>
          <p:cNvPr id="22" name="Text 14"/>
          <p:cNvSpPr/>
          <p:nvPr/>
        </p:nvSpPr>
        <p:spPr>
          <a:xfrm>
            <a:off x="640080" y="56692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= goedkoper rijden, minder congestie én lokale energie lokaal benut.</a:t>
            </a:r>
            <a:endParaRPr lang="en-US" sz="1400" dirty="0"/>
          </a:p>
        </p:txBody>
      </p:sp>
      <p:sp>
        <p:nvSpPr>
          <p:cNvPr id="23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sp>
        <p:nvSpPr>
          <p:cNvPr id="24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65760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VOLGENDE STAP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Werkvergadering met de aankoopcentrale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18745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Insourcing van slim laden als een service, langs twee sporen: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14400" y="283464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3001061"/>
            <a:ext cx="307238" cy="30723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737360" y="28803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Communicatieplan Sambreville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914400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 met de gemeente het verhaal naar bedrijven en inwoners brengen.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153912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428232" y="283464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4653" y="3001061"/>
            <a:ext cx="307238" cy="30723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251192" y="283464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Oplossingen voor overheidsopdrachten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6428232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Laadoplossingen voor entiteiten onderhevig aan de wet overheidsopdrachten.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640080" y="5074920"/>
            <a:ext cx="502920" cy="50292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839" y="5205679"/>
            <a:ext cx="241402" cy="24140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325880" y="5120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johan@fluctus.net</a:t>
            </a:r>
            <a:pPr indent="0" marL="0">
              <a:buNone/>
            </a:pPr>
            <a:r>
              <a:rPr lang="en-US" sz="17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·     fluctus.net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640080" y="5989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Toekomstvast laadplan voor Sambreville</dc:title>
  <dc:subject>PptxGenJS Presentation</dc:subject>
  <dc:creator>Fluctus</dc:creator>
  <cp:lastModifiedBy>Fluctus</cp:lastModifiedBy>
  <cp:revision>1</cp:revision>
  <dcterms:created xsi:type="dcterms:W3CDTF">2026-06-24T02:07:17Z</dcterms:created>
  <dcterms:modified xsi:type="dcterms:W3CDTF">2026-06-24T02:07:17Z</dcterms:modified>
</cp:coreProperties>
</file>